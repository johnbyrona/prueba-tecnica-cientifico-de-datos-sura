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5a435899bf4df5" /><Relationship Type="http://schemas.openxmlformats.org/officeDocument/2006/relationships/extended-properties" Target="/docProps/app.xml" Id="Rbdf0300666614c45" /><Relationship Type="http://schemas.openxmlformats.org/officeDocument/2006/relationships/officeDocument" Target="/ppt/presentation.xml" Id="Rfb46059686e543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9ba88857154f20"/>
  </p:sldMasterIdLst>
  <p:notesMasterIdLst>
    <p:notesMasterId xmlns:r="http://schemas.openxmlformats.org/officeDocument/2006/relationships" r:id="Rb8fafe90fd45410b"/>
  </p:notesMasterIdLst>
  <p:sldIdLst>
    <p:sldId xmlns:r="http://schemas.openxmlformats.org/officeDocument/2006/relationships" id="256" r:id="Ra4c4ccd70b324ce3"/>
    <p:sldId xmlns:r="http://schemas.openxmlformats.org/officeDocument/2006/relationships" id="257" r:id="Rc88aff958bad4e23"/>
    <p:sldId xmlns:r="http://schemas.openxmlformats.org/officeDocument/2006/relationships" id="258" r:id="R686123a3451247d0"/>
    <p:sldId xmlns:r="http://schemas.openxmlformats.org/officeDocument/2006/relationships" id="259" r:id="Re340f39022974fbc"/>
    <p:sldId xmlns:r="http://schemas.openxmlformats.org/officeDocument/2006/relationships" id="260" r:id="R8c54fde8cba54b98"/>
    <p:sldId xmlns:r="http://schemas.openxmlformats.org/officeDocument/2006/relationships" id="261" r:id="Re472fa57c2ff4ded"/>
    <p:sldId xmlns:r="http://schemas.openxmlformats.org/officeDocument/2006/relationships" id="262" r:id="Rcdd3625efc8e40e3"/>
    <p:sldId xmlns:r="http://schemas.openxmlformats.org/officeDocument/2006/relationships" id="263" r:id="Re5cb910623b34397"/>
    <p:sldId xmlns:r="http://schemas.openxmlformats.org/officeDocument/2006/relationships" id="264" r:id="Rf73d179c29cd43f6"/>
    <p:sldId xmlns:r="http://schemas.openxmlformats.org/officeDocument/2006/relationships" id="265" r:id="Rb22955bfd11747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45e1f49b6f471d" /><Relationship Type="http://schemas.openxmlformats.org/officeDocument/2006/relationships/slideMaster" Target="/ppt/slideMasters/slideMaster1.xml" Id="Re19ba88857154f20" /><Relationship Type="http://schemas.openxmlformats.org/officeDocument/2006/relationships/notesMaster" Target="/ppt/notesMasters/notesMaster1.xml" Id="Rb8fafe90fd45410b" /><Relationship Type="http://schemas.openxmlformats.org/officeDocument/2006/relationships/presProps" Target="/ppt/presProps.xml" Id="R340b8bfd63234edf" /><Relationship Type="http://schemas.openxmlformats.org/officeDocument/2006/relationships/tableStyles" Target="/ppt/tableStyles.xml" Id="R942b1e0b056b43b2" /><Relationship Type="http://schemas.openxmlformats.org/officeDocument/2006/relationships/slide" Target="/ppt/slides/slide1.xml" Id="Ra4c4ccd70b324ce3" /><Relationship Type="http://schemas.openxmlformats.org/officeDocument/2006/relationships/slide" Target="/ppt/slides/slide2.xml" Id="Rc88aff958bad4e23" /><Relationship Type="http://schemas.openxmlformats.org/officeDocument/2006/relationships/slide" Target="/ppt/slides/slide3.xml" Id="R686123a3451247d0" /><Relationship Type="http://schemas.openxmlformats.org/officeDocument/2006/relationships/slide" Target="/ppt/slides/slide4.xml" Id="Re340f39022974fbc" /><Relationship Type="http://schemas.openxmlformats.org/officeDocument/2006/relationships/slide" Target="/ppt/slides/slide5.xml" Id="R8c54fde8cba54b98" /><Relationship Type="http://schemas.openxmlformats.org/officeDocument/2006/relationships/slide" Target="/ppt/slides/slide6.xml" Id="Re472fa57c2ff4ded" /><Relationship Type="http://schemas.openxmlformats.org/officeDocument/2006/relationships/slide" Target="/ppt/slides/slide7.xml" Id="Rcdd3625efc8e40e3" /><Relationship Type="http://schemas.openxmlformats.org/officeDocument/2006/relationships/slide" Target="/ppt/slides/slide8.xml" Id="Re5cb910623b34397" /><Relationship Type="http://schemas.openxmlformats.org/officeDocument/2006/relationships/slide" Target="/ppt/slides/slide9.xml" Id="Rf73d179c29cd43f6" /><Relationship Type="http://schemas.openxmlformats.org/officeDocument/2006/relationships/slide" Target="/ppt/slides/slide10.xml" Id="Rb22955bfd11747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fcc28f02c645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528072687e4a84" /><Relationship Type="http://schemas.openxmlformats.org/officeDocument/2006/relationships/notesMaster" Target="/ppt/notesMasters/notesMaster1.xml" Id="R761be395a8e744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4bdacb4fdf4a48" /><Relationship Type="http://schemas.openxmlformats.org/officeDocument/2006/relationships/notesMaster" Target="/ppt/notesMasters/notesMaster1.xml" Id="R5142ad1487ce40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af8ebe2aeb4277" /><Relationship Type="http://schemas.openxmlformats.org/officeDocument/2006/relationships/notesMaster" Target="/ppt/notesMasters/notesMaster1.xml" Id="R5219f07724864a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4751dabc934e08" /><Relationship Type="http://schemas.openxmlformats.org/officeDocument/2006/relationships/notesMaster" Target="/ppt/notesMasters/notesMaster1.xml" Id="Rb12201c64c9b47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ccd5819f814cb1" /><Relationship Type="http://schemas.openxmlformats.org/officeDocument/2006/relationships/notesMaster" Target="/ppt/notesMasters/notesMaster1.xml" Id="Rd550dfd241eb45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3bdb27455a4b10" /><Relationship Type="http://schemas.openxmlformats.org/officeDocument/2006/relationships/notesMaster" Target="/ppt/notesMasters/notesMaster1.xml" Id="R582b212c60f44d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9bd58ff50c4ce8" /><Relationship Type="http://schemas.openxmlformats.org/officeDocument/2006/relationships/notesMaster" Target="/ppt/notesMasters/notesMaster1.xml" Id="R74b0a4e1c93a4a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92e156e0044761" /><Relationship Type="http://schemas.openxmlformats.org/officeDocument/2006/relationships/notesMaster" Target="/ppt/notesMasters/notesMaster1.xml" Id="R244dbbc513ff4a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70a1e728c24f59" /><Relationship Type="http://schemas.openxmlformats.org/officeDocument/2006/relationships/notesMaster" Target="/ppt/notesMasters/notesMaster1.xml" Id="Rd7e3b315436f46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1a1f35815841ed" /><Relationship Type="http://schemas.openxmlformats.org/officeDocument/2006/relationships/notesMaster" Target="/ppt/notesMasters/notesMaster1.xml" Id="R5782a05a9c9b41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objetivo: priorizacion operativa.</a:t>
            </a:r>
          </a:p>
          <a:p xmlns:a="http://schemas.openxmlformats.org/drawingml/2006/main">
            <a:r>
              <a:t>[Sources] docs/sustentacion_requerimientos_prueba.md; outputs/databricks_model_metrics.csv.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mediana, moda, log y version liviana de Databricks.</a:t>
            </a:r>
          </a:p>
          <a:p xmlns:a="http://schemas.openxmlformats.org/drawingml/2006/main">
            <a:r>
              <a:t>[Sources] docs/sustentacion_requerimientos_prueba.md.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slide cubre la justificacion de leakage.</a:t>
            </a:r>
          </a:p>
          <a:p xmlns:a="http://schemas.openxmlformats.org/drawingml/2006/main">
            <a:r>
              <a:t>[Sources] Hoja2 de Muestra_Base_fraude.xlsx; docs/sustentacion_requerimientos_prueba.md.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Enfatizar interpretabilidad: demoras, antiguedad, severidad.</a:t>
            </a:r>
          </a:p>
          <a:p xmlns:a="http://schemas.openxmlformats.org/drawingml/2006/main">
            <a:r>
              <a:t>[Sources] src/train_fraud_model.py; databricks/01_modelo_fraude_pyspark.py.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Area under PR se alinea mejor con deteccion de positivos en ranking.</a:t>
            </a:r>
          </a:p>
          <a:p xmlns:a="http://schemas.openxmlformats.org/drawingml/2006/main">
            <a:r>
              <a:t>[Sources] outputs/databricks_model_metrics.csv.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Lift conecta modelo con capacidad del equipo.</a:t>
            </a:r>
          </a:p>
          <a:p xmlns:a="http://schemas.openxmlformats.org/drawingml/2006/main">
            <a:r>
              <a:t>[Sources] outputs/databricks_decile_lift.csv.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senal de decision automatica: score alto prioriza, no condena.</a:t>
            </a:r>
          </a:p>
          <a:p xmlns:a="http://schemas.openxmlformats.org/drawingml/2006/main">
            <a:r>
              <a:t>Fecha de scoring: 2026-08-23; usarla para trazabilidad y reproducibilidad.</a:t>
            </a:r>
          </a:p>
          <a:p xmlns:a="http://schemas.openxmlformats.org/drawingml/2006/main">
            <a:r>
              <a:t>[Sources] docs/sustentacion_requerimientos_prueba.md; outputs/databricks_scored_top100.csv.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negocio consume score/decil/prioridad.</a:t>
            </a:r>
          </a:p>
          <a:p xmlns:a="http://schemas.openxmlformats.org/drawingml/2006/main">
            <a:r>
              <a:t>[Sources] docs/sustentacion_requerimientos_prueba.md.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Mencionar Delta como persistencia y consulta SQL.</a:t>
            </a:r>
          </a:p>
          <a:p xmlns:a="http://schemas.openxmlformats.org/drawingml/2006/main">
            <a:r>
              <a:t>[Sources] databricks/01_modelo_fraude_pyspark.py.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valor operativo y limites claros.</a:t>
            </a:r>
          </a:p>
          <a:p xmlns:a="http://schemas.openxmlformats.org/drawingml/2006/main">
            <a:r>
              <a:t>[Sources] docs/sustentacion_requerimientos_prueba.md.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7d288b8604a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a8e2c6578e43cb" /><Relationship Type="http://schemas.openxmlformats.org/officeDocument/2006/relationships/slideLayout" Target="/ppt/slideLayouts/slideLayout1.xml" Id="R00882ebed9db4b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882ebed9db4b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7dc2941504aa0" /><Relationship Type="http://schemas.openxmlformats.org/officeDocument/2006/relationships/notesSlide" Target="/ppt/notesSlides/notesSlide1.xml" Id="R0e80e71753944e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0cf801ecd420c" /><Relationship Type="http://schemas.openxmlformats.org/officeDocument/2006/relationships/notesSlide" Target="/ppt/notesSlides/notesSlide2.xml" Id="R138ee074907146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2a11f73be4be5" /><Relationship Type="http://schemas.openxmlformats.org/officeDocument/2006/relationships/notesSlide" Target="/ppt/notesSlides/notesSlide3.xml" Id="R04e0ddee1e8148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7c45e3ed14a0f" /><Relationship Type="http://schemas.openxmlformats.org/officeDocument/2006/relationships/notesSlide" Target="/ppt/notesSlides/notesSlide4.xml" Id="Rbbc9bb5fb9c249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60372e4d04ad4" /><Relationship Type="http://schemas.openxmlformats.org/officeDocument/2006/relationships/chart" Target="/ppt/slides/charts/chart1.xml" Id="R80b70d8706ca468d" /><Relationship Type="http://schemas.openxmlformats.org/officeDocument/2006/relationships/notesSlide" Target="/ppt/notesSlides/notesSlide5.xml" Id="Rcf0d055e46a945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0d2eebbd94e5b" /><Relationship Type="http://schemas.openxmlformats.org/officeDocument/2006/relationships/chart" Target="/ppt/slides/charts/chart2.xml" Id="R4fd60ce6ca964ee3" /><Relationship Type="http://schemas.openxmlformats.org/officeDocument/2006/relationships/notesSlide" Target="/ppt/notesSlides/notesSlide6.xml" Id="R2bce8d782a074a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a47520ce04d66" /><Relationship Type="http://schemas.openxmlformats.org/officeDocument/2006/relationships/notesSlide" Target="/ppt/notesSlides/notesSlide7.xml" Id="R1bf92cfb5f924d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c595b73c34ff0" /><Relationship Type="http://schemas.openxmlformats.org/officeDocument/2006/relationships/notesSlide" Target="/ppt/notesSlides/notesSlide8.xml" Id="Rb1695c24933242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f9cbceeb841b6" /><Relationship Type="http://schemas.openxmlformats.org/officeDocument/2006/relationships/notesSlide" Target="/ppt/notesSlides/notesSlide9.xml" Id="Ra155d51d005e40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bd0b06980494e" /><Relationship Type="http://schemas.openxmlformats.org/officeDocument/2006/relationships/notesSlide" Target="/ppt/notesSlides/notesSlide10.xml" Id="Rf2088f81df34432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1B4F72"/>
            </a:solidFill>
          </c:spPr>
          <c:cat>
            <c:strLit>
              <c:ptCount val="3"/>
              <c:pt idx="0">
                <c:v>Random forest</c:v>
              </c:pt>
              <c:pt idx="1">
                <c:v>Gradient boosting</c:v>
              </c:pt>
              <c:pt idx="2">
                <c:v>Reg. logistica</c:v>
              </c:pt>
            </c:strLit>
          </c:cat>
          <c:val>
            <c:numLit>
              <c:formatCode>General</c:formatCode>
              <c:ptCount val="3"/>
              <c:pt idx="0">
                <c:v>0.785</c:v>
              </c:pt>
              <c:pt idx="1">
                <c:v>0.706</c:v>
              </c:pt>
              <c:pt idx="2">
                <c:v>0.294</c:v>
              </c:pt>
            </c:numLit>
          </c:val>
        </c:ser>
        <c:ser>
          <c:idx val="1"/>
          <c:order val="1"/>
          <c:tx>
            <c:v>Area under PR</c:v>
          </c:tx>
          <c:spPr>
            <a:solidFill xmlns:a="http://schemas.openxmlformats.org/drawingml/2006/main">
              <a:srgbClr val="117A65"/>
            </a:solidFill>
          </c:spPr>
          <c:cat>
            <c:strLit>
              <c:ptCount val="3"/>
              <c:pt idx="0">
                <c:v>Random forest</c:v>
              </c:pt>
              <c:pt idx="1">
                <c:v>Gradient boosting</c:v>
              </c:pt>
              <c:pt idx="2">
                <c:v>Reg. logistica</c:v>
              </c:pt>
            </c:strLit>
          </c:cat>
          <c:val>
            <c:numLit>
              <c:formatCode>General</c:formatCode>
              <c:ptCount val="3"/>
              <c:pt idx="0">
                <c:v>0.613</c:v>
              </c:pt>
              <c:pt idx="1">
                <c:v>0.523</c:v>
              </c:pt>
              <c:pt idx="2">
                <c:v>0.26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Tasa de fraude</c:v>
          </c:tx>
          <c:spPr>
            <a:solidFill xmlns:a="http://schemas.openxmlformats.org/drawingml/2006/main">
              <a:srgbClr val="1B4F72"/>
            </a:solidFill>
          </c:spPr>
          <c:marker>
            <c:symbol val="none"/>
          </c:marker>
          <c:cat>
            <c:strLit>
              <c:ptCount val="10"/>
              <c:pt idx="0">
                <c:v>D1</c:v>
              </c:pt>
              <c:pt idx="1">
                <c:v>D2</c:v>
              </c:pt>
              <c:pt idx="2">
                <c:v>D3</c:v>
              </c:pt>
              <c:pt idx="3">
                <c:v>D4</c:v>
              </c:pt>
              <c:pt idx="4">
                <c:v>D5</c:v>
              </c:pt>
              <c:pt idx="5">
                <c:v>D6</c:v>
              </c:pt>
              <c:pt idx="6">
                <c:v>D7</c:v>
              </c:pt>
              <c:pt idx="7">
                <c:v>D8</c:v>
              </c:pt>
              <c:pt idx="8">
                <c:v>D9</c:v>
              </c:pt>
              <c:pt idx="9">
                <c:v>D10</c:v>
              </c:pt>
            </c:strLit>
          </c:cat>
          <c:val>
            <c:numLit>
              <c:formatCode>General</c:formatCode>
              <c:ptCount val="10"/>
              <c:pt idx="0">
                <c:v>0.681</c:v>
              </c:pt>
              <c:pt idx="1">
                <c:v>0.706</c:v>
              </c:pt>
              <c:pt idx="2">
                <c:v>0.547</c:v>
              </c:pt>
              <c:pt idx="3">
                <c:v>0.341</c:v>
              </c:pt>
              <c:pt idx="4">
                <c:v>0.332</c:v>
              </c:pt>
              <c:pt idx="5">
                <c:v>0.248</c:v>
              </c:pt>
              <c:pt idx="6">
                <c:v>0.179</c:v>
              </c:pt>
              <c:pt idx="7">
                <c:v>0.107</c:v>
              </c:pt>
              <c:pt idx="8">
                <c:v>0.138</c:v>
              </c:pt>
              <c:pt idx="9">
                <c:v>0.047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0AAF6-E8DB-4662-9A4B-E8ADFC28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BE0E4-2EE4-4993-8176-F49B9FF5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7A65"/>
                </a:solidFill>
              </a:defRPr>
            </a:pPr>
            <a:r>
              <a:rPr sz="825" b="1">
                <a:solidFill>
                  <a:srgbClr val="117A65"/>
                </a:solidFill>
              </a:rPr>
              <a:t>Resumen ejecutivo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57BD7-A644-4414-9ADA-D83737AD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</a:defRPr>
            </a:pPr>
            <a:r>
              <a:rPr sz="900" b="1">
                <a:solidFill>
                  <a:srgbClr val="61707D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7D236-FDC9-425A-9364-8422C7A2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1707D"/>
                </a:solidFill>
              </a:defRPr>
            </a:pPr>
            <a:r>
              <a:rPr sz="750">
                <a:solidFill>
                  <a:srgbClr val="61707D"/>
                </a:solidFill>
              </a:rPr>
              <a:t>Sustentacion tecnica y de negocio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8B7E3-7FCC-40EC-AB9F-D1031DAE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6212B"/>
                </a:solidFill>
              </a:defRPr>
            </a:pPr>
            <a:r>
              <a:rPr sz="4050" b="1">
                <a:solidFill>
                  <a:srgbClr val="16212B"/>
                </a:solidFill>
              </a:rPr>
              <a:t>Fraude en seguros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2F250-2C1C-48EE-BD49-7C88019A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1707D"/>
                </a:solidFill>
              </a:defRPr>
            </a:pPr>
            <a:r>
              <a:rPr sz="1650">
                <a:solidFill>
                  <a:srgbClr val="61707D"/>
                </a:solidFill>
              </a:rPr>
              <a:t>Sustentacion de decisiones tecnicas, resultados y arquitectura de scoring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75064-3C0A-4418-B07F-1A3C839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3714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87C31-8F36-4AC0-815E-5DC009F2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657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4F72"/>
                </a:solidFill>
              </a:defRPr>
            </a:pPr>
            <a:r>
              <a:rPr sz="2025" b="1">
                <a:solidFill>
                  <a:srgbClr val="1B4F72"/>
                </a:solidFill>
              </a:rPr>
              <a:t>La solucion no automatiza rechazos: convierte datos historicos en una bandeja priorizada para investigacion.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0E2EA-5B65-4AEE-887C-495F84C1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33450"/>
            <a:ext cx="2428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8E708-20AF-4F37-A066-6C46F5B9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0287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B4F72"/>
                </a:solidFill>
              </a:defRPr>
            </a:pPr>
            <a:r>
              <a:rPr sz="1875" b="1">
                <a:solidFill>
                  <a:srgbClr val="1B4F72"/>
                </a:solidFill>
              </a:rPr>
              <a:t>Random forest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5531E-ECB7-4073-B6F1-B000B3E2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335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1707D"/>
                </a:solidFill>
              </a:defRPr>
            </a:pPr>
            <a:r>
              <a:rPr sz="825">
                <a:solidFill>
                  <a:srgbClr val="61707D"/>
                </a:solidFill>
              </a:rPr>
              <a:t>Modelo final Databricks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1A846-6CFF-4FC8-BD08-3BDA2F3A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428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4A831-B580-4431-A104-5108DB5C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05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A65"/>
                </a:solidFill>
              </a:defRPr>
            </a:pPr>
            <a:r>
              <a:rPr sz="1875" b="1">
                <a:solidFill>
                  <a:srgbClr val="117A65"/>
                </a:solidFill>
              </a:rPr>
              <a:t>0,785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13C10-43F7-4CF9-8597-04153B4F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1707D"/>
                </a:solidFill>
              </a:defRPr>
            </a:pPr>
            <a:r>
              <a:rPr sz="825">
                <a:solidFill>
                  <a:srgbClr val="61707D"/>
                </a:solidFill>
              </a:rPr>
              <a:t>ROC-AUC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402ED-28E9-4617-AA01-BC9B06A5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428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B7CD9-0396-4407-B6B3-767933DC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A65"/>
                </a:solidFill>
              </a:defRPr>
            </a:pPr>
            <a:r>
              <a:rPr sz="1875" b="1">
                <a:solidFill>
                  <a:srgbClr val="117A65"/>
                </a:solidFill>
              </a:rPr>
              <a:t>0,613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AE59F-B9DD-49B5-B258-EA70DC72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1707D"/>
                </a:solidFill>
              </a:defRPr>
            </a:pPr>
            <a:r>
              <a:rPr sz="825">
                <a:solidFill>
                  <a:srgbClr val="61707D"/>
                </a:solidFill>
              </a:rPr>
              <a:t>Area under PR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55D5C-5427-455F-962E-1F8E9ED6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2428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C15BA-D0D6-4F76-BA3C-6A1D445C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576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770E"/>
                </a:solidFill>
              </a:defRPr>
            </a:pPr>
            <a:r>
              <a:rPr sz="1875" b="1">
                <a:solidFill>
                  <a:srgbClr val="B9770E"/>
                </a:solidFill>
              </a:rPr>
              <a:t>41,8%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F343D-748F-45F9-82FD-A3610D93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624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1707D"/>
                </a:solidFill>
              </a:defRPr>
            </a:pPr>
            <a:r>
              <a:rPr sz="825">
                <a:solidFill>
                  <a:srgbClr val="61707D"/>
                </a:solidFill>
              </a:rPr>
              <a:t>Captura top 20%</a:t>
            </a:r>
          </a:p>
        </p:txBody>
      </p:sp>
    </p:spTree>
    <p:extLst>
      <p:ext uri="{BB962C8B-B14F-4D97-AF65-F5344CB8AC3E}">
        <p14:creationId xmlns:p14="http://schemas.microsoft.com/office/powerpoint/2010/main" val="168314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3147D5-57FF-4834-92DC-7EE932B5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32983-0D07-43C0-B223-6692FA16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7A65"/>
                </a:solidFill>
              </a:defRPr>
            </a:pPr>
            <a:r>
              <a:rPr sz="825" b="1">
                <a:solidFill>
                  <a:srgbClr val="117A65"/>
                </a:solidFill>
              </a:rPr>
              <a:t>Preparacion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5275D-45B9-406A-B252-75C0C8B8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</a:defRPr>
            </a:pPr>
            <a:r>
              <a:rPr sz="900" b="1">
                <a:solidFill>
                  <a:srgbClr val="61707D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2ACF4-D891-4DC7-9863-2067ECF5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1707D"/>
                </a:solidFill>
              </a:defRPr>
            </a:pPr>
            <a:r>
              <a:rPr sz="750">
                <a:solidFill>
                  <a:srgbClr val="61707D"/>
                </a:solidFill>
              </a:rPr>
              <a:t>Sustentacion tecnica y de negocio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98ECC-3D39-464B-A1A7-6406CCD9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</a:defRPr>
            </a:pPr>
            <a:r>
              <a:rPr sz="2700" b="1">
                <a:solidFill>
                  <a:srgbClr val="16212B"/>
                </a:solidFill>
              </a:rPr>
              <a:t>Preparacion de datos: supuestos y tratamiento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0175F-A2B3-4116-96B0-BD16D787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07D"/>
                </a:solidFill>
              </a:defRPr>
            </a:pPr>
            <a:r>
              <a:rPr sz="1275">
                <a:solidFill>
                  <a:srgbClr val="61707D"/>
                </a:solidFill>
              </a:rPr>
              <a:t>Cada decision busca mantener registros utiles sin introducir informacion futura.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D1FAA-5DD3-49F8-988C-B2C53FB7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AF8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EC42A-57C8-4F0B-B91B-B94BB2EB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B4F72"/>
                </a:solidFill>
              </a:defRPr>
            </a:pPr>
            <a:r>
              <a:rPr sz="1050" b="1">
                <a:solidFill>
                  <a:srgbClr val="1B4F72"/>
                </a:solidFill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E7AA3-1FB8-4F0C-B8AA-2BC5A74A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145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AF8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6989D-D56A-4073-A570-678C7AC7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B4F72"/>
                </a:solidFill>
              </a:defRPr>
            </a:pPr>
            <a:r>
              <a:rPr sz="1050" b="1">
                <a:solidFill>
                  <a:srgbClr val="1B4F72"/>
                </a:solidFill>
              </a:rPr>
              <a:t>Criterio aplicado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7405C-987A-4A06-A0A0-1CF38312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145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AF8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A6809-714F-408E-9D53-9FAE67BC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B4F72"/>
                </a:solidFill>
              </a:defRPr>
            </a:pPr>
            <a:r>
              <a:rPr sz="1050" b="1">
                <a:solidFill>
                  <a:srgbClr val="1B4F72"/>
                </a:solidFill>
              </a:rPr>
              <a:t>Razon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19A49-C309-4CAD-9BD8-E48CF119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D379E-1C5B-4A8E-8951-E6032ACA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Objetivo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09E62-FEB1-4112-9F80-1B65BC0C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669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8C64E-D97D-4277-A66E-6085C503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622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Fraude S /N -&gt; 1/0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B8F8C-8CE5-441E-848E-B930C465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669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AC29CF-875C-4EC0-B7E5-AF11B4BD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622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Clasificacion binaria y ranking.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17B47-0F08-43EF-9CDD-D73E0102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34548-27E3-43C9-B9B6-23290FE7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Faltantes numericos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97C80-EBBD-42EA-A85A-CBAD7C86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194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104146-24D3-47A6-803D-E22E80AE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146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Mediana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64DD7-26D9-416E-B23F-EE8C5CA4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194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F1592D-2BFC-48CF-B4D2-DA5A44F9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146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Robusta ante extremos.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013444-5499-4477-B3B3-457AA852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A1171-5A6B-4069-8EF4-5B0F8020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Faltantes categoricos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E668E-89D7-4EE4-969F-6FA25156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2AF6D2-1924-49A0-9D53-C8FB9E38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671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Moda / categoria frecuente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6733F4-4910-456D-A2D2-E55B9119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718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36C950-6BD8-436A-9D6B-C57B214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671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Evita perdida de registros.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C17FBA-2BCD-4532-915F-477CE1E4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77DCE8-D55D-47B4-B9E1-B87783B7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Atipicos economicos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35410E-31D2-48E6-AE60-D2660262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243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9F20CD-2FB5-477E-8D43-989611A5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195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log(1 + reserva inicial)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E7B180-0C4D-45D0-85DE-2CF87733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243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BD7F9C-BF96-4184-8F3B-9285E83C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195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Reduce dominio de montos extremos.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365802-5605-4368-BE46-7A0A413F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D26997-A5F4-4D54-8D39-8968C138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Ejecucion DBX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47C857-04EB-447E-8130-D09DD77D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76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B365CB-2D12-46B8-8FF8-C9044E13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Pipeline liviano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90C047-7ED9-4409-A4DD-9AFBE243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F7DE0E-3B2B-4AC9-9822-BABAF16C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720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Compatible con Free Edition.</a:t>
            </a:r>
          </a:p>
        </p:txBody>
      </p:sp>
    </p:spTree>
    <p:extLst>
      <p:ext uri="{BB962C8B-B14F-4D97-AF65-F5344CB8AC3E}">
        <p14:creationId xmlns:p14="http://schemas.microsoft.com/office/powerpoint/2010/main" val="1339390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D2362A-DDC2-46F9-9E77-D53D408D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D408D-ECBC-4AD4-A5E6-5AF50B7F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7A65"/>
                </a:solidFill>
              </a:defRPr>
            </a:pPr>
            <a:r>
              <a:rPr sz="825" b="1">
                <a:solidFill>
                  <a:srgbClr val="117A65"/>
                </a:solidFill>
              </a:rPr>
              <a:t>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25A6E-7691-4241-AFBD-3328E31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</a:defRPr>
            </a:pPr>
            <a:r>
              <a:rPr sz="900" b="1">
                <a:solidFill>
                  <a:srgbClr val="61707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2325A-8C42-43B5-ADAF-3C95F3B1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1707D"/>
                </a:solidFill>
              </a:defRPr>
            </a:pPr>
            <a:r>
              <a:rPr sz="750">
                <a:solidFill>
                  <a:srgbClr val="61707D"/>
                </a:solidFill>
              </a:rPr>
              <a:t>Sustentacion tecnica y de negocio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6763C-D42D-45B6-8D0A-2D66AE5A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</a:defRPr>
            </a:pPr>
            <a:r>
              <a:rPr sz="2700" b="1">
                <a:solidFill>
                  <a:srgbClr val="16212B"/>
                </a:solidFill>
              </a:rPr>
              <a:t>Variables excluidas: proteger la logica temporal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090CA-31B7-4894-86EB-2CD191CC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07D"/>
                </a:solidFill>
              </a:defRPr>
            </a:pPr>
            <a:r>
              <a:rPr sz="1275">
                <a:solidFill>
                  <a:srgbClr val="61707D"/>
                </a:solidFill>
              </a:rPr>
              <a:t>El modelo solo debe usar informacion disponible antes de investigar.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49340-D57B-45BA-8DCC-249F980A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AF8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39868-BB64-4831-A2F2-81637EF7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B4F72"/>
                </a:solidFill>
              </a:defRPr>
            </a:pPr>
            <a:r>
              <a:rPr sz="975" b="1">
                <a:solidFill>
                  <a:srgbClr val="1B4F72"/>
                </a:solidFill>
              </a:rPr>
              <a:t>Grupo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ACCF2-6B2B-4192-A274-B79847A8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145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AF8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7102F-97F7-44CC-A9E9-D7E1D078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09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B4F72"/>
                </a:solidFill>
              </a:defRPr>
            </a:pPr>
            <a:r>
              <a:rPr sz="975" b="1">
                <a:solidFill>
                  <a:srgbClr val="1B4F72"/>
                </a:solidFill>
              </a:rPr>
              <a:t>Variables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73422-819C-4852-8DB4-C1F506F7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145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AF8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0865C-D029-4CB7-8ABF-305BDA7D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B4F72"/>
                </a:solidFill>
              </a:defRPr>
            </a:pPr>
            <a:r>
              <a:rPr sz="975" b="1">
                <a:solidFill>
                  <a:srgbClr val="1B4F72"/>
                </a:solidFill>
              </a:rPr>
              <a:t>Justificacion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79847-4B05-44C7-98FB-2A2E420D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5E15A-D12A-4A7C-B484-F3D2531B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Objetivo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C399D-F8DF-4A46-8172-E88B818A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669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AC428-5F60-4E24-8E57-5AA8361E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622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Fraude S /N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CB8B9-04E0-4E3E-8720-F250109F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413C0-B914-4866-BDFA-AA4513B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622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Etiqueta, no predictor.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29BFF-C53A-46B4-9345-69E9DD84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986EF-D84D-42BB-A6FE-000A937E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Posteriores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41F09-2765-442E-A972-F68B6A0F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194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0D7885-1204-4DD6-8072-F74529B6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146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estado; Fecha_Primer_Cierre_Siniestro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5751B-C57D-480C-B839-E4887EEC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194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2D4A0A-86D6-400A-ADE9-D4823DDA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146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Reflejan gestion o cierre.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E8553C-ECE5-49E6-9866-9BE465DD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F987E-4EEA-453C-A68A-57F09217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Economicas posteriores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210310-C8D3-45C7-9A88-69FA8388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718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FD8E1F-1381-4CC0-92FD-79788122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71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Sum(Valor_Reservas); Sum(Valor_Pagos)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F0B89F-E23C-44DC-9CB6-F04DA470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718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E383C8-B05E-446C-9D50-5449F50A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671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Cambian durante la vida del siniestro.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6AE9F4-0013-414F-897B-868876C9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BF4F71-9F53-4DDE-BA47-53DC37C2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Reporte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26DCB3-3749-4F1A-82BF-0CD3C15D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2430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D38B58-E9B7-446A-B2EA-A096E73B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95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Periodo Reporte; Fecha de reporte; Ano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9F9FC1-C9A6-43D0-A3D8-D24032CC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243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80ABA7-CDBB-4CC6-BF26-D8BC2303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19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Artefactos de extraccion/reporte.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0183E7-BDB5-43C2-9E20-62869249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3D2E5D-4115-4A0D-BDCA-7BFBA51E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Identificacion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CAA960-D331-4E01-8478-6E3C01D1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767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E78441-8880-4917-8ADC-EE0C3D58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720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IDENTIFICACION_asegurado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77CD81-FBBF-4DE6-93BD-12AD1871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767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C297DB-453D-4D47-BE89-E072534E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720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Riesgo de memorizacion.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39D4AC-2B1D-406F-92C0-BBEE8CC1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BD8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CC84A7-5100-4781-BE95-AA1048B1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007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3226"/>
                </a:solidFill>
              </a:defRPr>
            </a:pPr>
            <a:r>
              <a:rPr sz="1500" b="1">
                <a:solidFill>
                  <a:srgbClr val="A93226"/>
                </a:solidFill>
              </a:rPr>
              <a:t>Principio: una variable que no existe al momento de scoring no debe alimentar el modelo.</a:t>
            </a:r>
          </a:p>
        </p:txBody>
      </p:sp>
    </p:spTree>
    <p:extLst>
      <p:ext uri="{BB962C8B-B14F-4D97-AF65-F5344CB8AC3E}">
        <p14:creationId xmlns:p14="http://schemas.microsoft.com/office/powerpoint/2010/main" val="2049098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60A445-77A5-4742-A07F-FC2C1DA9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CEFC6-0747-4F1E-AA79-D4BFE80B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7A65"/>
                </a:solidFill>
              </a:defRPr>
            </a:pPr>
            <a:r>
              <a:rPr sz="825" b="1">
                <a:solidFill>
                  <a:srgbClr val="117A65"/>
                </a:solidFill>
              </a:rPr>
              <a:t>Feature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25579-B54D-448D-B478-6B2F5C8D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</a:defRPr>
            </a:pPr>
            <a:r>
              <a:rPr sz="900" b="1">
                <a:solidFill>
                  <a:srgbClr val="61707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FC6D4-9419-4240-B003-D27D4B63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1707D"/>
                </a:solidFill>
              </a:defRPr>
            </a:pPr>
            <a:r>
              <a:rPr sz="750">
                <a:solidFill>
                  <a:srgbClr val="61707D"/>
                </a:solidFill>
              </a:rPr>
              <a:t>Sustentacion tecnica y de negocio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81190-EA21-4E8A-AAB5-A6E66C08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</a:defRPr>
            </a:pPr>
            <a:r>
              <a:rPr sz="2700" b="1">
                <a:solidFill>
                  <a:srgbClr val="16212B"/>
                </a:solidFill>
              </a:rPr>
              <a:t>Ingenieria de variables que negocio puede entender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645D3-FA0A-489F-8450-3171985C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07D"/>
                </a:solidFill>
              </a:defRPr>
            </a:pPr>
            <a:r>
              <a:rPr sz="1275">
                <a:solidFill>
                  <a:srgbClr val="61707D"/>
                </a:solidFill>
              </a:rPr>
              <a:t>Fechas crudas se convierten en tiempos operativos y senales auditables.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97FF8-7FC8-4D9D-BC95-B74E6AC2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AF8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53966-AB5A-4C51-A028-2A4C9798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526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B4F72"/>
                </a:solidFill>
              </a:defRPr>
            </a:pPr>
            <a:r>
              <a:rPr sz="1050" b="1">
                <a:solidFill>
                  <a:srgbClr val="1B4F72"/>
                </a:solidFill>
              </a:rPr>
              <a:t>Variable derivada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B6FB2-4673-4983-A9DC-FC5A9118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AF8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EBDC0-7F2E-4894-B0EC-60998160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526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B4F72"/>
                </a:solidFill>
              </a:defRPr>
            </a:pPr>
            <a:r>
              <a:rPr sz="1050" b="1">
                <a:solidFill>
                  <a:srgbClr val="1B4F72"/>
                </a:solidFill>
              </a:rPr>
              <a:t>Lectura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903F4-F4C8-4E6E-A7B5-84DBD48D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9EEE4-DB75-469A-A67B-267DB927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dias_siniestro_a_notificacion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C9DD0-DBFA-4B33-BE0D-25963B99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717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A0A1B-5060-4339-91DC-6BCE1A0A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Demora entre ocurrencia y aviso.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1B38E-7EB5-440B-A1A2-4E40E9BE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71144-CD34-43AA-9DF6-A156D284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dias_siniestro_a_apertura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21032-C480-4E00-B81C-06819F85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F4BA2-8C1A-46F0-9A57-28E22164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Demora hasta apertura del caso.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EC4D9-72F8-43A9-9CC8-1AF0BD28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4C6AC-9FCC-4584-8443-C652F802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dias_vigencia_cert_a_siniestro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81F0A2-E452-4481-91B1-B38860CC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04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FAA63-CC66-407D-92D5-52ACA3B2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956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Antiguedad del certificado.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62412-7743-40AE-A65F-DF138570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CE9EE-2DA8-4BA1-AC44-895B6446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dias_vigencia_pol_a_siniestro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E9219-82FF-4D93-A57B-BADC2CE9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05453B-68A9-4060-AF50-E9B1CE95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00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Antiguedad de la poliza.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E0F6F-85E0-4039-B395-E02BDBC8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D4DB9-37FD-4049-817E-6A3D42E0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mes / dia_semana_siniestro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2A25C6-9CA6-4048-A8EE-CD667009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584382-C739-49F5-BD14-7AFB8BA8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Patrones calendario.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BB880D-E714-4E68-B261-40EC24DD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368B54-C63C-4ABD-B976-17057B5F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log_reserva_inicial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B9D1BE-AEFC-4D18-AAE0-698573A0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434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2B891F-B1FC-4AB2-ABFF-3994FC9E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387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6212B"/>
                </a:solidFill>
              </a:defRPr>
            </a:pPr>
            <a:r>
              <a:rPr sz="975" b="0">
                <a:solidFill>
                  <a:srgbClr val="16212B"/>
                </a:solidFill>
              </a:rPr>
              <a:t>Severidad economica suavizada.</a:t>
            </a:r>
          </a:p>
        </p:txBody>
      </p:sp>
    </p:spTree>
    <p:extLst>
      <p:ext uri="{BB962C8B-B14F-4D97-AF65-F5344CB8AC3E}">
        <p14:creationId xmlns:p14="http://schemas.microsoft.com/office/powerpoint/2010/main" val="20277623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905BE-5D19-40AA-A06B-AFBB1259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498FB-7F7F-4E33-B968-8F4178B5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7A65"/>
                </a:solidFill>
              </a:defRPr>
            </a:pPr>
            <a:r>
              <a:rPr sz="825" b="1">
                <a:solidFill>
                  <a:srgbClr val="117A65"/>
                </a:solidFill>
              </a:rPr>
              <a:t>Modelado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F9B98-E161-4F25-ACE9-D27F69F4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</a:defRPr>
            </a:pPr>
            <a:r>
              <a:rPr sz="900" b="1">
                <a:solidFill>
                  <a:srgbClr val="61707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01EA4-1E51-40F3-B8F0-BAC81B94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1707D"/>
                </a:solidFill>
              </a:defRPr>
            </a:pPr>
            <a:r>
              <a:rPr sz="750">
                <a:solidFill>
                  <a:srgbClr val="61707D"/>
                </a:solidFill>
              </a:rPr>
              <a:t>Sustentacion tecnica y de negocio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05CF1-5550-43D2-9EDD-9C87F913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</a:defRPr>
            </a:pPr>
            <a:r>
              <a:rPr sz="2700" b="1">
                <a:solidFill>
                  <a:srgbClr val="16212B"/>
                </a:solidFill>
              </a:rPr>
              <a:t>Tres modelos compiten por ordenar mejor el riesgo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AEA7E-41F4-4F90-8B06-03FC1321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07D"/>
                </a:solidFill>
              </a:defRPr>
            </a:pPr>
            <a:r>
              <a:rPr sz="1275">
                <a:solidFill>
                  <a:srgbClr val="61707D"/>
                </a:solidFill>
              </a:rPr>
              <a:t>La seleccion se hace por desempeno de ranking, no por accuracy.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81050" y="1809750"/>
          <a:ext xmlns:a="http://schemas.openxmlformats.org/drawingml/2006/main" cx="6858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b70d8706ca468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000B5-517A-46AA-B56F-4B5B300B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C1DEA-CB90-44AA-85F3-9D26CCE7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72"/>
                </a:solidFill>
              </a:defRPr>
            </a:pPr>
            <a:r>
              <a:rPr sz="1650" b="1">
                <a:solidFill>
                  <a:srgbClr val="1B4F72"/>
                </a:solidFill>
              </a:rPr>
              <a:t>Modelo final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24EEE-0BFF-4151-851F-3F213736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7A65"/>
                </a:solidFill>
              </a:defRPr>
            </a:pPr>
            <a:r>
              <a:rPr sz="1950" b="1">
                <a:solidFill>
                  <a:srgbClr val="117A65"/>
                </a:solidFill>
              </a:rPr>
              <a:t>Random forest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0B657-6B30-4492-A702-E2AA2590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1707D"/>
                </a:solidFill>
              </a:defRPr>
            </a:pPr>
            <a:r>
              <a:rPr sz="1200">
                <a:solidFill>
                  <a:srgbClr val="61707D"/>
                </a:solidFill>
              </a:rPr>
              <a:t>Mejor area under PR en Databricks.</a:t>
            </a:r>
          </a:p>
        </p:txBody>
      </p:sp>
    </p:spTree>
    <p:extLst>
      <p:ext uri="{BB962C8B-B14F-4D97-AF65-F5344CB8AC3E}">
        <p14:creationId xmlns:p14="http://schemas.microsoft.com/office/powerpoint/2010/main" val="33373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619E1-43A2-43B7-A3A6-D2A0A346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07AC3-4D8C-4FC8-A3B8-22180F31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7A65"/>
                </a:solidFill>
              </a:defRPr>
            </a:pPr>
            <a:r>
              <a:rPr sz="825" b="1">
                <a:solidFill>
                  <a:srgbClr val="117A65"/>
                </a:solidFill>
              </a:rPr>
              <a:t>Interpretabilidad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D6DF4-BDAC-4343-B11D-85E226D2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</a:defRPr>
            </a:pPr>
            <a:r>
              <a:rPr sz="900" b="1">
                <a:solidFill>
                  <a:srgbClr val="61707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CCFE0-F17C-49DE-911D-A1C24932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1707D"/>
                </a:solidFill>
              </a:defRPr>
            </a:pPr>
            <a:r>
              <a:rPr sz="750">
                <a:solidFill>
                  <a:srgbClr val="61707D"/>
                </a:solidFill>
              </a:rPr>
              <a:t>Sustentacion tecnica y de negocio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F81CE-DC13-4669-908A-547A75D9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</a:defRPr>
            </a:pPr>
            <a:r>
              <a:rPr sz="2700" b="1">
                <a:solidFill>
                  <a:srgbClr val="16212B"/>
                </a:solidFill>
              </a:rPr>
              <a:t>Lift: la explicabilidad en lenguaje operativo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39E9C-25FF-4A97-8AF1-0555AA52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07D"/>
                </a:solidFill>
              </a:defRPr>
            </a:pPr>
            <a:r>
              <a:rPr sz="1275">
                <a:solidFill>
                  <a:srgbClr val="61707D"/>
                </a:solidFill>
              </a:rPr>
              <a:t>El resultado se lee como eficiencia de revision frente a una seleccion aleatoria.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723900" y="1752600"/>
          <a:ext xmlns:a="http://schemas.openxmlformats.org/drawingml/2006/main" cx="6858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d60ce6ca964ee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36895-4835-4EA6-BFC1-E68E985D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428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82836-17C1-44A1-89C5-7D4023FF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05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B4F72"/>
                </a:solidFill>
              </a:defRPr>
            </a:pPr>
            <a:r>
              <a:rPr sz="1875" b="1">
                <a:solidFill>
                  <a:srgbClr val="1B4F72"/>
                </a:solidFill>
              </a:rPr>
              <a:t>68,1%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55D15-5F8A-4607-8931-A3DB57F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1707D"/>
                </a:solidFill>
              </a:defRPr>
            </a:pPr>
            <a:r>
              <a:rPr sz="825">
                <a:solidFill>
                  <a:srgbClr val="61707D"/>
                </a:solidFill>
              </a:rPr>
              <a:t>Fraude decil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95066-BD4B-476F-9308-DD286234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428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71D23-1BAF-4457-858F-9B8AD8AE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7A65"/>
                </a:solidFill>
              </a:defRPr>
            </a:pPr>
            <a:r>
              <a:rPr sz="1875" b="1">
                <a:solidFill>
                  <a:srgbClr val="117A65"/>
                </a:solidFill>
              </a:rPr>
              <a:t>2,12x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283AE-7140-4F82-A991-FAE58602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1707D"/>
                </a:solidFill>
              </a:defRPr>
            </a:pPr>
            <a:r>
              <a:rPr sz="825">
                <a:solidFill>
                  <a:srgbClr val="61707D"/>
                </a:solidFill>
              </a:rPr>
              <a:t>Lift decil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081A0-0965-41E2-995F-88A5F3F0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2428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7BAA0-F215-4571-8536-279DDAD6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576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770E"/>
                </a:solidFill>
              </a:defRPr>
            </a:pPr>
            <a:r>
              <a:rPr sz="1875" b="1">
                <a:solidFill>
                  <a:srgbClr val="B9770E"/>
                </a:solidFill>
              </a:rPr>
              <a:t>444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D66BBF-9BAA-4632-96A3-814021F3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624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1707D"/>
                </a:solidFill>
              </a:defRPr>
            </a:pPr>
            <a:r>
              <a:rPr sz="825">
                <a:solidFill>
                  <a:srgbClr val="61707D"/>
                </a:solidFill>
              </a:rPr>
              <a:t>Fraudes top 20%</a:t>
            </a:r>
          </a:p>
        </p:txBody>
      </p:sp>
    </p:spTree>
    <p:extLst>
      <p:ext uri="{BB962C8B-B14F-4D97-AF65-F5344CB8AC3E}">
        <p14:creationId xmlns:p14="http://schemas.microsoft.com/office/powerpoint/2010/main" val="3739179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CF7BA2-8B39-443B-80A0-EBCBA13E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5D925-9002-434A-8BD7-1B3F482A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7A65"/>
                </a:solidFill>
              </a:defRPr>
            </a:pPr>
            <a:r>
              <a:rPr sz="825" b="1">
                <a:solidFill>
                  <a:srgbClr val="117A65"/>
                </a:solidFill>
              </a:rPr>
              <a:t>Patrones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D4EC1-E1C2-47A3-B38E-E2D136F6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</a:defRPr>
            </a:pPr>
            <a:r>
              <a:rPr sz="900" b="1">
                <a:solidFill>
                  <a:srgbClr val="61707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FC34B-B2D6-4623-B55F-AE891671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1707D"/>
                </a:solidFill>
              </a:defRPr>
            </a:pPr>
            <a:r>
              <a:rPr sz="750">
                <a:solidFill>
                  <a:srgbClr val="61707D"/>
                </a:solidFill>
              </a:rPr>
              <a:t>Sustentacion tecnica y de negocio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72F96-33DD-4D15-B36A-06756205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</a:defRPr>
            </a:pPr>
            <a:r>
              <a:rPr sz="2700" b="1">
                <a:solidFill>
                  <a:srgbClr val="16212B"/>
                </a:solidFill>
              </a:rPr>
              <a:t>Segmentos puntuados: senales para auditoria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7D941-48CA-48B1-B82B-D1212F40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07D"/>
                </a:solidFill>
              </a:defRPr>
            </a:pPr>
            <a:r>
              <a:rPr sz="1275">
                <a:solidFill>
                  <a:srgbClr val="61707D"/>
                </a:solidFill>
              </a:rPr>
              <a:t>Cada caso priorizado debe traer score, decil y fecha de scoring para trazabilidad.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BE3C1-B82A-4889-945B-659AC0DC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9677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3C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5F5B8-CB5F-49BB-B956-7F69E9C6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770E"/>
                </a:solidFill>
              </a:defRPr>
            </a:pPr>
            <a:r>
              <a:rPr sz="1200" b="1">
                <a:solidFill>
                  <a:srgbClr val="B9770E"/>
                </a:solidFill>
              </a:rPr>
              <a:t>Fecha de scoring Databricks: 2026-08-23 | Modelo: random_forest | Tabla: workspace.default.fraude_scored_test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82F69-00F3-4C52-87B5-8650D603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AF8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9F630-B757-47D9-A91C-8144477C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B4F72"/>
                </a:solidFill>
              </a:defRPr>
            </a:pPr>
            <a:r>
              <a:rPr sz="975" b="1">
                <a:solidFill>
                  <a:srgbClr val="1B4F72"/>
                </a:solidFill>
              </a:rPr>
              <a:t>Segmento/caso observado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9F669-B801-4485-8597-6D75886A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098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AF8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DD13C-E2D5-4871-BE95-2D3EA7E8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050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B4F72"/>
                </a:solidFill>
              </a:defRPr>
            </a:pPr>
            <a:r>
              <a:rPr sz="975" b="1">
                <a:solidFill>
                  <a:srgbClr val="1B4F72"/>
                </a:solidFill>
              </a:rPr>
              <a:t>Score/decil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543D7-6C20-4672-B332-3E20A893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AF8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9193F-9AB1-4D04-82CB-B7B8C482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05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B4F72"/>
                </a:solidFill>
              </a:defRPr>
            </a:pPr>
            <a:r>
              <a:rPr sz="975" b="1">
                <a:solidFill>
                  <a:srgbClr val="1B4F72"/>
                </a:solidFill>
              </a:rPr>
              <a:t>Uso recomendado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BFABD-F84A-4BE3-A7F0-B89C94F3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7ECD8-3D98-4619-8573-F0D57636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VIDA DE GRUPO | Sucursales | Antioquia | Invalidez | Recl. Digital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60091-A500-4F6A-AA2B-4991C83F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622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6C812-E69F-4E29-B865-EBB7B736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0,785 | D1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6B222-F3FB-4810-BCF8-51DC6137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622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C5F314-7E19-42A6-B47B-11D7EC34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575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Revision prioritaria de soporte documental.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D42B82-8F54-430E-AF1A-CE7B4347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76F86-A938-4D5B-94CE-2ECC5D2D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VIDA DE GRUPO | Corredores | Antioquia | Vida | Asesor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F1214-200E-4E28-9DAD-1512F26B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147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0ECFE-3946-43BF-8D61-21422A6F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099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0,748 | D1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2AE28D-4701-4162-8F59-43121288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A8AABA-E376-4C9F-B69C-7C79790D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099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Auditoria de caso; el score no implica fraude probado.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438708-5867-4E6C-813F-09FB8A18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011FD2-E95F-457E-B276-892B96C5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VIDA DE GRUPO | Bancolombia Deudores | Oficina Central | Invalidez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B358D9-1FAD-490D-9976-B08A55CD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671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9C6EE-FB0A-487A-A513-079C58E7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624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0,683 | D1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CB6A4E-2C1A-4CD8-82C8-6DD7D734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671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0F26F0-A817-42CD-B0A5-96803BD8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624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Validar consistencia entre canal, cobertura y documentos.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CB31C1-A02E-4FC3-9D14-761FFAA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CCEFD2-66CF-4879-8926-ECA9A448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VIDA INDIVIDUAL | Sucursales | Antioquia | Invalidez | Recl. Digital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6346AA-3FC0-40AD-B441-F4C6345C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196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381C4C-2F37-4CCA-A0BC-B4180F59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0,669 | D1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47A0D3-F69A-45F4-A6D8-70E50F54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196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3A6310-D01E-4BE9-8241-A0F709D7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148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Cola de investigacion con trazabilidad de decision.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DA8EAE-6D79-43E8-BC0F-D92A92BE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DC0FA2-71CC-46FE-879A-B7286028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673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VIDA INDIVIDUAL | Promotoras | Regional Centro | Invalidez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4D39DF-33CC-4E23-ACA8-C23E365A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720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4292C0-D67F-40BD-B58B-F8B84D4F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673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0,661 | D1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AEB02B-BEE3-4363-ABAA-4966C05A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720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405779-E8C8-4B18-A85E-83858841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67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6212B"/>
                </a:solidFill>
              </a:defRPr>
            </a:pPr>
            <a:r>
              <a:rPr sz="900" b="0">
                <a:solidFill>
                  <a:srgbClr val="16212B"/>
                </a:solidFill>
              </a:rPr>
              <a:t>Seguimiento operativo del segmento y retroalimentacion.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AC544A-3C04-46B7-9A6E-F73307E9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4F72"/>
                </a:solidFill>
              </a:defRPr>
            </a:pPr>
            <a:r>
              <a:rPr sz="1275" b="1">
                <a:solidFill>
                  <a:srgbClr val="1B4F72"/>
                </a:solidFill>
              </a:rPr>
              <a:t>Lectura: el scoring sirve para ordenar investigaciones; la decision final requiere evidencia y criterio experto.</a:t>
            </a:r>
          </a:p>
        </p:txBody>
      </p:sp>
    </p:spTree>
    <p:extLst>
      <p:ext uri="{BB962C8B-B14F-4D97-AF65-F5344CB8AC3E}">
        <p14:creationId xmlns:p14="http://schemas.microsoft.com/office/powerpoint/2010/main" val="13919514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23DDD-F0B8-4D71-9591-24A9026F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1963C-BC0C-4281-930C-9672477C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7A65"/>
                </a:solidFill>
              </a:defRPr>
            </a:pPr>
            <a:r>
              <a:rPr sz="825" b="1">
                <a:solidFill>
                  <a:srgbClr val="117A65"/>
                </a:solidFill>
              </a:rPr>
              <a:t>Scoring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C9EFE-F7C2-4A87-B4AB-1B48B958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</a:defRPr>
            </a:pPr>
            <a:r>
              <a:rPr sz="900" b="1">
                <a:solidFill>
                  <a:srgbClr val="61707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82553-CBE2-4272-AB5F-B82155D2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1707D"/>
                </a:solidFill>
              </a:defRPr>
            </a:pPr>
            <a:r>
              <a:rPr sz="750">
                <a:solidFill>
                  <a:srgbClr val="61707D"/>
                </a:solidFill>
              </a:rPr>
              <a:t>Sustentacion tecnica y de negocio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3F5CA-43AF-4F4A-8306-DC246893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</a:defRPr>
            </a:pPr>
            <a:r>
              <a:rPr sz="2700" b="1">
                <a:solidFill>
                  <a:srgbClr val="16212B"/>
                </a:solidFill>
              </a:rPr>
              <a:t>Scoring corporativo: que entra y que sale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A5CAD-283C-4E01-B932-FF16DFF5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07D"/>
                </a:solidFill>
              </a:defRPr>
            </a:pPr>
            <a:r>
              <a:rPr sz="1275">
                <a:solidFill>
                  <a:srgbClr val="61707D"/>
                </a:solidFill>
              </a:rPr>
              <a:t>El consumo esperado es una bandeja priorizada para investigacion.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3D5A9-6192-4B74-ABC9-3DD96F29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476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BACDF-C59F-459E-88DB-D3B0C97A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B4F72"/>
                </a:solidFill>
              </a:defRPr>
            </a:pPr>
            <a:r>
              <a:rPr sz="1950" b="1">
                <a:solidFill>
                  <a:srgbClr val="1B4F72"/>
                </a:solidFill>
              </a:rPr>
              <a:t>Entradas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FAAA5-B2CF-4EA9-862D-DE2A963F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5A7B6-9BE1-4E15-8896-473A9197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212B"/>
                </a:solidFill>
              </a:defRPr>
            </a:pPr>
            <a:r>
              <a:rPr sz="1275">
                <a:solidFill>
                  <a:srgbClr val="16212B"/>
                </a:solidFill>
              </a:rPr>
              <a:t>Poliza/certificado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2C078-481A-4111-86DA-7D382F32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8C672-2A41-4A2C-A1E3-2999C378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212B"/>
                </a:solidFill>
              </a:defRPr>
            </a:pPr>
            <a:r>
              <a:rPr sz="1275">
                <a:solidFill>
                  <a:srgbClr val="16212B"/>
                </a:solidFill>
              </a:rPr>
              <a:t>Asegurado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10981-006E-423B-83A4-E89F05A0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9379A-702A-4081-BC0F-31D8A809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212B"/>
                </a:solidFill>
              </a:defRPr>
            </a:pPr>
            <a:r>
              <a:rPr sz="1275">
                <a:solidFill>
                  <a:srgbClr val="16212B"/>
                </a:solidFill>
              </a:rPr>
              <a:t>Ramo, canal, regional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16329-1D8C-4CA6-B285-61A95638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34129-7AF4-4FF6-9E16-00EC1C83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212B"/>
                </a:solidFill>
              </a:defRPr>
            </a:pPr>
            <a:r>
              <a:rPr sz="1275">
                <a:solidFill>
                  <a:srgbClr val="16212B"/>
                </a:solidFill>
              </a:rPr>
              <a:t>Fechas operativas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811EF-DADD-4156-96CE-5606EE54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4357B-8207-4642-837F-90E3F797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212B"/>
                </a:solidFill>
              </a:defRPr>
            </a:pPr>
            <a:r>
              <a:rPr sz="1275">
                <a:solidFill>
                  <a:srgbClr val="16212B"/>
                </a:solidFill>
              </a:rPr>
              <a:t>Reserva inicial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6D061-1E7D-4E7A-A217-1D84A63D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476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B5D47-DE5F-4404-A9F7-A710D625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33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7A65"/>
                </a:solidFill>
              </a:defRPr>
            </a:pPr>
            <a:r>
              <a:rPr sz="1950" b="1">
                <a:solidFill>
                  <a:srgbClr val="117A65"/>
                </a:solidFill>
              </a:rPr>
              <a:t>Salidas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E61AD-0C9B-4E16-80F2-9D3B8FD9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6D900-FE9B-432B-A81C-71FED2A8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05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212B"/>
                </a:solidFill>
              </a:defRPr>
            </a:pPr>
            <a:r>
              <a:rPr sz="1275">
                <a:solidFill>
                  <a:srgbClr val="16212B"/>
                </a:solidFill>
              </a:rPr>
              <a:t>score_fraude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7C13B-9F5B-47E9-8C18-8A6ACC51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413F60-0EF2-4E1F-8B4A-86F50723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67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212B"/>
                </a:solidFill>
              </a:defRPr>
            </a:pPr>
            <a:r>
              <a:rPr sz="1275">
                <a:solidFill>
                  <a:srgbClr val="16212B"/>
                </a:solidFill>
              </a:rPr>
              <a:t>decil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46561-8EDC-4096-A5EA-D18A8490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4C23B-D7B1-4EBA-A0DA-C8635596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29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212B"/>
                </a:solidFill>
              </a:defRPr>
            </a:pPr>
            <a:r>
              <a:rPr sz="1275">
                <a:solidFill>
                  <a:srgbClr val="16212B"/>
                </a:solidFill>
              </a:rPr>
              <a:t>prioridad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6F2F72-223C-46F4-B371-79BA39AD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67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FAA712-7F32-4A27-868F-24483C26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90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212B"/>
                </a:solidFill>
              </a:defRPr>
            </a:pPr>
            <a:r>
              <a:rPr sz="1275">
                <a:solidFill>
                  <a:srgbClr val="16212B"/>
                </a:solidFill>
              </a:rPr>
              <a:t>fecha_scoring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88ECC7-F5E7-49B0-AC2B-239DACFA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7F68B7-77AB-41D9-8B68-BB8D7B92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52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212B"/>
                </a:solidFill>
              </a:defRPr>
            </a:pPr>
            <a:r>
              <a:rPr sz="1275">
                <a:solidFill>
                  <a:srgbClr val="16212B"/>
                </a:solidFill>
              </a:rPr>
              <a:t>version_modelo</a:t>
            </a:r>
          </a:p>
        </p:txBody>
      </p:sp>
    </p:spTree>
    <p:extLst>
      <p:ext uri="{BB962C8B-B14F-4D97-AF65-F5344CB8AC3E}">
        <p14:creationId xmlns:p14="http://schemas.microsoft.com/office/powerpoint/2010/main" val="2081384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9651E1-C3EA-49A5-839E-73C4BA88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803D6-2188-4920-A238-9486401E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7A65"/>
                </a:solidFill>
              </a:defRPr>
            </a:pPr>
            <a:r>
              <a:rPr sz="825" b="1">
                <a:solidFill>
                  <a:srgbClr val="117A65"/>
                </a:solidFill>
              </a:rPr>
              <a:t>Arquitectura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E4F40-6D6C-4EE8-9ABB-A22E4388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</a:defRPr>
            </a:pPr>
            <a:r>
              <a:rPr sz="900" b="1">
                <a:solidFill>
                  <a:srgbClr val="61707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4FA3D-DD38-4DF2-9ADC-C0325944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1707D"/>
                </a:solidFill>
              </a:defRPr>
            </a:pPr>
            <a:r>
              <a:rPr sz="750">
                <a:solidFill>
                  <a:srgbClr val="61707D"/>
                </a:solidFill>
              </a:rPr>
              <a:t>Sustentacion tecnica y de negocio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75C48-B122-4E7A-9951-9C93E85F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</a:defRPr>
            </a:pPr>
            <a:r>
              <a:rPr sz="2700" b="1">
                <a:solidFill>
                  <a:srgbClr val="16212B"/>
                </a:solidFill>
              </a:rPr>
              <a:t>Arquitectura conceptual: de tabla fuente a monitoreo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9AE8E-1ED9-468D-9A4E-192E2442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07D"/>
                </a:solidFill>
              </a:defRPr>
            </a:pPr>
            <a:r>
              <a:rPr sz="1275">
                <a:solidFill>
                  <a:srgbClr val="61707D"/>
                </a:solidFill>
              </a:rPr>
              <a:t>No es MLOps completo, pero deja claro el flujo corporativo minimo.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D1C20-D038-4F19-A0A4-8163E517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EB072-C6B1-4F86-853F-6DD71F4F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4F72"/>
                </a:solidFill>
              </a:defRPr>
            </a:pPr>
            <a:r>
              <a:rPr sz="1200" b="1">
                <a:solidFill>
                  <a:srgbClr val="1B4F72"/>
                </a:solidFill>
              </a:rPr>
              <a:t>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120B7-19AC-40AB-A1F1-6967FC59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1707D"/>
                </a:solidFill>
              </a:defRPr>
            </a:pPr>
            <a:r>
              <a:rPr sz="900">
                <a:solidFill>
                  <a:srgbClr val="61707D"/>
                </a:solidFill>
              </a:rPr>
              <a:t>Delta fuente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C6EFE-8F4F-4691-8BE1-8EE81B03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1465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D4315-6233-4664-926B-521C5DD6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717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FE565-326A-4EF3-9AE9-919A268A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813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4F72"/>
                </a:solidFill>
              </a:defRPr>
            </a:pPr>
            <a:r>
              <a:rPr sz="1200" b="1">
                <a:solidFill>
                  <a:srgbClr val="1B4F72"/>
                </a:solidFill>
              </a:rPr>
              <a:t>Preparacion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5AE61-E6D8-4325-A2E4-1F5FE648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051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1707D"/>
                </a:solidFill>
              </a:defRPr>
            </a:pPr>
            <a:r>
              <a:rPr sz="900">
                <a:solidFill>
                  <a:srgbClr val="61707D"/>
                </a:solidFill>
              </a:rPr>
              <a:t>Leakage +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6735B-2746-4C0C-A040-15FDA6E8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1465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1F918-3FC1-4B1D-9CF4-24330EFF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7F300-2698-43C8-A520-FCD08BAB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813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4F72"/>
                </a:solidFill>
              </a:defRPr>
            </a:pPr>
            <a:r>
              <a:rPr sz="1200" b="1">
                <a:solidFill>
                  <a:srgbClr val="1B4F72"/>
                </a:solidFill>
              </a:rPr>
              <a:t>Modelado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93B56-5ACC-4783-9D3F-306CCF2A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051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1707D"/>
                </a:solidFill>
              </a:defRPr>
            </a:pPr>
            <a:r>
              <a:rPr sz="900">
                <a:solidFill>
                  <a:srgbClr val="61707D"/>
                </a:solidFill>
              </a:rPr>
              <a:t>3 modelos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43B50-45D4-4A4D-8D1A-66921BD9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1465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4575C3-AFA7-4AA2-80D3-D850DE24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717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9854D-FE56-419C-AFB6-D9D3E83F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813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4F72"/>
                </a:solidFill>
              </a:defRPr>
            </a:pPr>
            <a:r>
              <a:rPr sz="1200" b="1">
                <a:solidFill>
                  <a:srgbClr val="1B4F72"/>
                </a:solidFill>
              </a:rPr>
              <a:t>Scoring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4DC38-B5EC-459B-B379-6BE034BA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051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1707D"/>
                </a:solidFill>
              </a:defRPr>
            </a:pPr>
            <a:r>
              <a:rPr sz="900">
                <a:solidFill>
                  <a:srgbClr val="61707D"/>
                </a:solidFill>
              </a:rPr>
              <a:t>Score + decil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AA04A-1569-479B-942A-45A2748A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91465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B7910C-11CE-40BC-AD07-FAADA920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347D42-19C4-4BDE-A1C8-F04237B5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4F72"/>
                </a:solidFill>
              </a:defRPr>
            </a:pPr>
            <a:r>
              <a:rPr sz="1200" b="1">
                <a:solidFill>
                  <a:srgbClr val="1B4F72"/>
                </a:solidFill>
              </a:rPr>
              <a:t>Consumo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01B18A-B5F6-403F-BE32-F2E374AB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1707D"/>
                </a:solidFill>
              </a:defRPr>
            </a:pPr>
            <a:r>
              <a:rPr sz="900">
                <a:solidFill>
                  <a:srgbClr val="61707D"/>
                </a:solidFill>
              </a:rPr>
              <a:t>Investigacion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BD64C8-DF7D-4085-8141-81B10537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3238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9521E3-6021-4848-B5DB-7A532501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7175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B449FB-298F-43E6-B5C2-5EC61FE2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7813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4F72"/>
                </a:solidFill>
              </a:defRPr>
            </a:pPr>
            <a:r>
              <a:rPr sz="1200" b="1">
                <a:solidFill>
                  <a:srgbClr val="1B4F72"/>
                </a:solidFill>
              </a:rPr>
              <a:t>Monitoreo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7F5DE3-CA8B-4846-A503-BB841E1C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051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1707D"/>
                </a:solidFill>
              </a:defRPr>
            </a:pPr>
            <a:r>
              <a:rPr sz="900">
                <a:solidFill>
                  <a:srgbClr val="61707D"/>
                </a:solidFill>
              </a:rPr>
              <a:t>Lift + drift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2F665F-064D-4213-9680-FE5F7306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601426-246C-452F-96E5-FF1ED25E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76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212B"/>
                </a:solidFill>
              </a:defRPr>
            </a:pPr>
            <a:r>
              <a:rPr sz="1350">
                <a:solidFill>
                  <a:srgbClr val="16212B"/>
                </a:solidFill>
              </a:rPr>
              <a:t>fraude_model_metrics: desempeno de modelos.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85AC81-D7D6-4AD3-81D9-AE565197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980093-CC6F-4D3F-88F8-A19D3192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212B"/>
                </a:solidFill>
              </a:defRPr>
            </a:pPr>
            <a:r>
              <a:rPr sz="1350">
                <a:solidFill>
                  <a:srgbClr val="16212B"/>
                </a:solidFill>
              </a:rPr>
              <a:t>fraude_decile_lift: evaluacion de priorizacion.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910C4D-59F8-4C93-9EB6-C987B160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BBA797-C382-4699-A982-12A09BBD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212B"/>
                </a:solidFill>
              </a:defRPr>
            </a:pPr>
            <a:r>
              <a:rPr sz="1350">
                <a:solidFill>
                  <a:srgbClr val="16212B"/>
                </a:solidFill>
              </a:rPr>
              <a:t>fraude_scored_test: casos puntuados para negocio.</a:t>
            </a:r>
          </a:p>
        </p:txBody>
      </p:sp>
    </p:spTree>
    <p:extLst>
      <p:ext uri="{BB962C8B-B14F-4D97-AF65-F5344CB8AC3E}">
        <p14:creationId xmlns:p14="http://schemas.microsoft.com/office/powerpoint/2010/main" val="20163109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A45A3-63D7-479E-ADC1-A443E4EF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2"/>
          </a:solidFill>
          <a:ln xmlns:a="http://schemas.openxmlformats.org/drawingml/2006/main" w="0">
            <a:solidFill>
              <a:srgbClr val="1B4F7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FFF2A-5896-4008-ACE5-23D3AC36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17A65"/>
                </a:solidFill>
              </a:defRPr>
            </a:pPr>
            <a:r>
              <a:rPr sz="825" b="1">
                <a:solidFill>
                  <a:srgbClr val="117A65"/>
                </a:solidFill>
              </a:rPr>
              <a:t>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F7DC5-6FB2-494F-B371-C6BCFEAB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7D"/>
                </a:solidFill>
              </a:defRPr>
            </a:pPr>
            <a:r>
              <a:rPr sz="900" b="1">
                <a:solidFill>
                  <a:srgbClr val="61707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CB2B1-6DF9-49E4-BD9D-30E51BEC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1707D"/>
                </a:solidFill>
              </a:defRPr>
            </a:pPr>
            <a:r>
              <a:rPr sz="750">
                <a:solidFill>
                  <a:srgbClr val="61707D"/>
                </a:solidFill>
              </a:rPr>
              <a:t>Sustentacion tecnica y de negocio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7BD14-EB0E-4FC0-9D6E-1024FE9D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</a:defRPr>
            </a:pPr>
            <a:r>
              <a:rPr sz="2700" b="1">
                <a:solidFill>
                  <a:srgbClr val="16212B"/>
                </a:solidFill>
              </a:rPr>
              <a:t>Limitaciones, monitoreo y decision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E3A2C-ABF5-43E6-B69B-6A9931D2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1707D"/>
                </a:solidFill>
              </a:defRPr>
            </a:pPr>
            <a:r>
              <a:rPr sz="1275">
                <a:solidFill>
                  <a:srgbClr val="61707D"/>
                </a:solidFill>
              </a:rPr>
              <a:t>El score debe gobernarse como proceso de riesgo.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D9E5A-37A7-4352-9855-7BA52BA7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0B684-EBD4-4927-A555-6866E18B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6212B"/>
                </a:solidFill>
              </a:defRPr>
            </a:pPr>
            <a:r>
              <a:rPr sz="1425">
                <a:solidFill>
                  <a:srgbClr val="16212B"/>
                </a:solidFill>
              </a:rPr>
              <a:t>Limitacion: etiquetas historicas pueden heredar sesgos de investigacion.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08D47-4C39-4EE3-A1AE-DF663B0D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6C5F9-2199-4EA2-BC0A-AFB53CA9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6212B"/>
                </a:solidFill>
              </a:defRPr>
            </a:pPr>
            <a:r>
              <a:rPr sz="1425">
                <a:solidFill>
                  <a:srgbClr val="16212B"/>
                </a:solidFill>
              </a:rPr>
              <a:t>Limitacion: el score no prueba fraude; solo prioriza revision.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6EF65-01BC-4911-B989-AB1A81C8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24321-C8FC-4674-87A8-A69C351E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6212B"/>
                </a:solidFill>
              </a:defRPr>
            </a:pPr>
            <a:r>
              <a:rPr sz="1425">
                <a:solidFill>
                  <a:srgbClr val="16212B"/>
                </a:solidFill>
              </a:rPr>
              <a:t>Monitoreo: distribucion del score, lift, drift y captura top 10/20/30.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CD1D6-01BB-423C-933F-6BC87229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8D8B0-3FB0-4559-8ECA-954F2A26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6212B"/>
                </a:solidFill>
              </a:defRPr>
            </a:pPr>
            <a:r>
              <a:rPr sz="1425">
                <a:solidFill>
                  <a:srgbClr val="16212B"/>
                </a:solidFill>
              </a:rPr>
              <a:t>Gobierno: version de modelo, fecha de scoring y trazabilidad de insumos.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8E20D-59A5-4501-BC94-49E84DC9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2A1EE-032F-450E-A5D8-F48EDB8F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6212B"/>
                </a:solidFill>
              </a:defRPr>
            </a:pPr>
            <a:r>
              <a:rPr sz="1425">
                <a:solidFill>
                  <a:srgbClr val="16212B"/>
                </a:solidFill>
              </a:rPr>
              <a:t>Decision: usar el modelo como foco investigativo, no como rechazo automatico.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CB091-7C0B-43B5-AB42-CC202C7C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09800"/>
            <a:ext cx="219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F5E3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A9744-D4C8-42A3-8F70-F12442C2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7A65"/>
                </a:solidFill>
              </a:defRPr>
            </a:pPr>
            <a:r>
              <a:rPr sz="1725" b="1">
                <a:solidFill>
                  <a:srgbClr val="117A65"/>
                </a:solidFill>
              </a:rPr>
              <a:t>Mensaje final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C1886-5B8B-4AF1-93F2-89368C81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6212B"/>
                </a:solidFill>
              </a:defRPr>
            </a:pPr>
            <a:r>
              <a:rPr sz="1350">
                <a:solidFill>
                  <a:srgbClr val="16212B"/>
                </a:solidFill>
              </a:rPr>
              <a:t>Mirar primero donde hay mas riesgo, con trazabilidad y monitoreo.</a:t>
            </a:r>
          </a:p>
        </p:txBody>
      </p:sp>
    </p:spTree>
    <p:extLst>
      <p:ext uri="{BB962C8B-B14F-4D97-AF65-F5344CB8AC3E}">
        <p14:creationId xmlns:p14="http://schemas.microsoft.com/office/powerpoint/2010/main" val="1672938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2026-08-23T22:09:18.7370000Z</dcterms:created>
  <dcterms:modified xsi:type="dcterms:W3CDTF">2026-08-23T22:09:18.7370000Z</dcterms:modified>
</coreProperties>
</file>